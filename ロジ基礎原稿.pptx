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63" autoAdjust="0"/>
    <p:restoredTop sz="78545" autoAdjust="0"/>
  </p:normalViewPr>
  <p:slideViewPr>
    <p:cSldViewPr snapToGrid="0" showGuides="1">
      <p:cViewPr>
        <p:scale>
          <a:sx n="75" d="100"/>
          <a:sy n="75" d="100"/>
        </p:scale>
        <p:origin x="972" y="2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555DD4-ECA1-4E75-A75E-48729D2E1986}" type="datetimeFigureOut">
              <a:rPr kumimoji="1" lang="ja-JP" altLang="en-US" smtClean="0"/>
              <a:t>2025/12/14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15EB8B-F3F0-490E-9EBE-2F5F1E814037}" type="slidenum">
              <a:rPr kumimoji="1" lang="ja-JP" altLang="en-US" smtClean="0"/>
              <a:t>‹#›</a:t>
            </a:fld>
            <a:endParaRPr kumimoji="1" lang="ja-JP" altLang="en-US"/>
          </a:p>
        </p:txBody>
      </p:sp>
    </p:spTree>
    <p:extLst>
      <p:ext uri="{BB962C8B-B14F-4D97-AF65-F5344CB8AC3E}">
        <p14:creationId xmlns:p14="http://schemas.microsoft.com/office/powerpoint/2010/main" val="356153614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A515EB8B-F3F0-490E-9EBE-2F5F1E814037}" type="slidenum">
              <a:rPr kumimoji="1" lang="ja-JP" altLang="en-US" smtClean="0"/>
              <a:t>8</a:t>
            </a:fld>
            <a:endParaRPr kumimoji="1" lang="ja-JP" altLang="en-US"/>
          </a:p>
        </p:txBody>
      </p:sp>
    </p:spTree>
    <p:extLst>
      <p:ext uri="{BB962C8B-B14F-4D97-AF65-F5344CB8AC3E}">
        <p14:creationId xmlns:p14="http://schemas.microsoft.com/office/powerpoint/2010/main" val="1312785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3424A13-BA83-BCCD-BC96-C40BB7C468CA}"/>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55E9E864-DDDD-CEB7-448A-6B0C81CFE2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C6E4EF92-509F-BCCB-29CB-F5ED1B4BC097}"/>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15D575E4-DAB6-7AD2-6A18-35BE5395667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FAFD505-75AB-6ABB-7F5A-1A4A6FA913F8}"/>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3563459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7D3EFA0-2C44-937E-F82A-9130DB5DC2C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AEECB5E-B31B-A12F-2A0B-56598318EF21}"/>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9538796-E038-0157-8204-9CD639DA2C95}"/>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169008A5-975A-BC70-5BE7-12EE755B032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A041209-CE2D-7F8F-8FB2-D1189ADBE082}"/>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914784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D91DB8-F734-077A-9676-5342F94E766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908170E-7168-AC89-4BF2-1A8A71C504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AF86BD0-5F04-E764-1800-B8238E26F106}"/>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5CF4414E-80DD-5F35-947F-02F044A2E9B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C31835B-F007-BB5A-FBDB-0382815354AC}"/>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0428775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160215D-35A0-DEED-C4DA-4A6A4507AF50}"/>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9859FC0-B0E4-4883-B3A6-9372C9D34618}"/>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D2E180B9-4F14-EFB5-0F8F-8C8890CB2475}"/>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6BAC6A1D-0C93-9D75-7365-55C4150B932E}"/>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6" name="フッター プレースホルダー 5">
            <a:extLst>
              <a:ext uri="{FF2B5EF4-FFF2-40B4-BE49-F238E27FC236}">
                <a16:creationId xmlns:a16="http://schemas.microsoft.com/office/drawing/2014/main" id="{FF3429E6-DF75-086B-81C0-D74CBA51090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AD88DDC-5498-D211-683D-9CE2863CEEDC}"/>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30607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14DCDC-3987-180D-E482-BFF158661BC5}"/>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B2DEB03-8053-A08A-F99B-E789843A9D0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55EBB37-BAD3-5679-811E-32225CC3B28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11E8A23-31A1-0320-29C0-769BD99BA8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BE40396-C59F-BC44-C146-3682FDE34239}"/>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8531DA7-8481-16DC-F3DB-FCAD90054D3C}"/>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8" name="フッター プレースホルダー 7">
            <a:extLst>
              <a:ext uri="{FF2B5EF4-FFF2-40B4-BE49-F238E27FC236}">
                <a16:creationId xmlns:a16="http://schemas.microsoft.com/office/drawing/2014/main" id="{CAE56858-77B0-9E7D-B43C-792C939D15B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10846AC-D867-B184-F020-F4333DDEC8CF}"/>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7288364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431972-957E-078A-25B8-F204CDC671A4}"/>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0163F9FF-DD5A-A92B-1B67-D0852866EC20}"/>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4" name="フッター プレースホルダー 3">
            <a:extLst>
              <a:ext uri="{FF2B5EF4-FFF2-40B4-BE49-F238E27FC236}">
                <a16:creationId xmlns:a16="http://schemas.microsoft.com/office/drawing/2014/main" id="{C2522A2B-1E6E-6C11-5EAC-573255E0062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33268FA-8042-A29D-0257-5301C79B04B4}"/>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37224450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BA8CAE2B-9508-973D-0009-1178CFFA360D}"/>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3" name="フッター プレースホルダー 2">
            <a:extLst>
              <a:ext uri="{FF2B5EF4-FFF2-40B4-BE49-F238E27FC236}">
                <a16:creationId xmlns:a16="http://schemas.microsoft.com/office/drawing/2014/main" id="{A9FDF526-8F26-8092-1E5F-4021B0D1F069}"/>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E7A8BF95-3D7C-1697-CEBC-E519ABC54974}"/>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4165090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3AAD05D-2A12-47CD-C9CF-694ED02EF508}"/>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C940FA4-A959-196A-0329-3E9D057FD11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B0DE0E91-60AE-F501-72CE-07A8686AC9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D1CB0C05-ABCE-50BE-EBC3-0C9692C3DDE4}"/>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6" name="フッター プレースホルダー 5">
            <a:extLst>
              <a:ext uri="{FF2B5EF4-FFF2-40B4-BE49-F238E27FC236}">
                <a16:creationId xmlns:a16="http://schemas.microsoft.com/office/drawing/2014/main" id="{5D73A5B1-14A1-0141-4460-DF49031D59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89AF070-5764-D9B5-A7DE-E9098B9431E5}"/>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24696575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7977D6-DE97-44A5-7B68-6D9F4622017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F91E82D-F1CF-9B0F-E84E-64413A139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A7BF44D-1C1A-0B4C-5B72-5346AC4FFB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FB96CE9-08EA-C140-D6A6-7399DB926F23}"/>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6" name="フッター プレースホルダー 5">
            <a:extLst>
              <a:ext uri="{FF2B5EF4-FFF2-40B4-BE49-F238E27FC236}">
                <a16:creationId xmlns:a16="http://schemas.microsoft.com/office/drawing/2014/main" id="{8867EF7A-7699-8BD5-42B1-5CB4A616458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E6507C0-9A5C-8215-47FE-54F1DF204BFA}"/>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7283318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3B5F4A6-1EB2-C34F-79CE-157012CCEA9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7F98D50-76E3-C01F-287D-EDD18DE03D0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FA6A53B-8543-A039-E2E1-7FA2ABFBE577}"/>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0160EA90-E94A-DF8A-BDAA-52FAF323B69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2229661-4820-F819-0146-E19902911B74}"/>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84275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678F7DF-C365-1D29-B033-526084783280}"/>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8D4AEF5-AFA9-6D01-E74A-579EA4E60E40}"/>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3C5682B-38CA-9C7F-0D43-3A29562612A1}"/>
              </a:ext>
            </a:extLst>
          </p:cNvPr>
          <p:cNvSpPr>
            <a:spLocks noGrp="1"/>
          </p:cNvSpPr>
          <p:nvPr>
            <p:ph type="dt" sz="half" idx="10"/>
          </p:nvPr>
        </p:nvSpPr>
        <p:spPr/>
        <p:txBody>
          <a:body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FE01BAB1-B9B7-3BE6-8D99-A1E7B1B9B6A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865A61F-339E-D7E1-E1F3-159F2248679B}"/>
              </a:ext>
            </a:extLst>
          </p:cNvPr>
          <p:cNvSpPr>
            <a:spLocks noGrp="1"/>
          </p:cNvSpPr>
          <p:nvPr>
            <p:ph type="sldNum" sz="quarter" idx="12"/>
          </p:nvPr>
        </p:nvSpPr>
        <p:spPr/>
        <p:txBody>
          <a:body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4133882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C2ED855-AE72-D568-3692-A02432569F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A1DA4-1E8C-F237-8117-1835808BBF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8A127D-3686-69FF-4D37-FF73B9E56D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F66A97-2E33-45F2-997B-58C2AE20C6A5}" type="datetimeFigureOut">
              <a:rPr kumimoji="1" lang="ja-JP" altLang="en-US" smtClean="0"/>
              <a:t>2025/12/14</a:t>
            </a:fld>
            <a:endParaRPr kumimoji="1" lang="ja-JP" altLang="en-US"/>
          </a:p>
        </p:txBody>
      </p:sp>
      <p:sp>
        <p:nvSpPr>
          <p:cNvPr id="5" name="フッター プレースホルダー 4">
            <a:extLst>
              <a:ext uri="{FF2B5EF4-FFF2-40B4-BE49-F238E27FC236}">
                <a16:creationId xmlns:a16="http://schemas.microsoft.com/office/drawing/2014/main" id="{04B5262F-27A5-AD69-9977-241E19D862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B08B361-2640-6FC4-FBA4-52B52BCED3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DF7932-0533-4950-B28F-63299460AF17}" type="slidenum">
              <a:rPr kumimoji="1" lang="ja-JP" altLang="en-US" smtClean="0"/>
              <a:t>‹#›</a:t>
            </a:fld>
            <a:endParaRPr kumimoji="1" lang="ja-JP" altLang="en-US"/>
          </a:p>
        </p:txBody>
      </p:sp>
    </p:spTree>
    <p:extLst>
      <p:ext uri="{BB962C8B-B14F-4D97-AF65-F5344CB8AC3E}">
        <p14:creationId xmlns:p14="http://schemas.microsoft.com/office/powerpoint/2010/main" val="11128072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字幕 2">
            <a:extLst>
              <a:ext uri="{FF2B5EF4-FFF2-40B4-BE49-F238E27FC236}">
                <a16:creationId xmlns:a16="http://schemas.microsoft.com/office/drawing/2014/main" id="{C5EE17E3-C9C8-5B70-3B22-AD4C58515209}"/>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お疲れ様です。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では荷姿統一によるコストダウン</a:t>
            </a:r>
            <a:r>
              <a:rPr lang="en-US" altLang="ja-JP" sz="1400" dirty="0">
                <a:latin typeface="BIZ UDP明朝 Medium" panose="02020500000000000000" pitchFamily="18" charset="-128"/>
                <a:ea typeface="BIZ UDP明朝 Medium" panose="02020500000000000000" pitchFamily="18" charset="-128"/>
              </a:rPr>
              <a:t>(</a:t>
            </a:r>
            <a:r>
              <a:rPr lang="ja-JP" altLang="en-US" sz="1400" dirty="0">
                <a:latin typeface="BIZ UDP明朝 Medium" panose="02020500000000000000" pitchFamily="18" charset="-128"/>
                <a:ea typeface="BIZ UDP明朝 Medium" panose="02020500000000000000" pitchFamily="18" charset="-128"/>
              </a:rPr>
              <a:t>コーナーガード廃止検討</a:t>
            </a:r>
            <a:r>
              <a:rPr lang="en-US" altLang="ja-JP" sz="1400" dirty="0">
                <a:latin typeface="BIZ UDP明朝 Medium" panose="02020500000000000000" pitchFamily="18" charset="-128"/>
                <a:ea typeface="BIZ UDP明朝 Medium" panose="02020500000000000000" pitchFamily="18" charset="-128"/>
              </a:rPr>
              <a:t>)</a:t>
            </a:r>
            <a:r>
              <a:rPr lang="ja-JP" altLang="en-US" sz="1400" dirty="0">
                <a:latin typeface="BIZ UDP明朝 Medium" panose="02020500000000000000" pitchFamily="18" charset="-128"/>
                <a:ea typeface="BIZ UDP明朝 Medium" panose="02020500000000000000" pitchFamily="18" charset="-128"/>
              </a:rPr>
              <a:t>とういうテーマで</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ロジスティクス推進</a:t>
            </a:r>
            <a:r>
              <a:rPr lang="ja-JP" altLang="en-US" sz="1400" dirty="0">
                <a:latin typeface="BIZ UDP明朝 Medium" panose="02020500000000000000" pitchFamily="18" charset="-128"/>
                <a:ea typeface="BIZ UDP明朝 Medium" panose="02020500000000000000" pitchFamily="18" charset="-128"/>
              </a:rPr>
              <a:t>第一課の山下より報告をさせていただきます。</a:t>
            </a:r>
            <a:endParaRPr kumimoji="1" lang="ja-JP" altLang="en-US"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20966384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FBB39-B29B-B12B-538D-DA5765CA47C3}"/>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5BE54204-7E48-42F0-D85B-63494541EF9E}"/>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こちらが目次になります。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こちらの順番で説明させていただきます。</a:t>
            </a:r>
            <a:endParaRPr kumimoji="1" lang="en-US" altLang="ja-JP" sz="1400" dirty="0">
              <a:latin typeface="BIZ UDP明朝 Medium" panose="02020500000000000000" pitchFamily="18" charset="-128"/>
              <a:ea typeface="BIZ UDP明朝 Medium" panose="02020500000000000000" pitchFamily="18" charset="-128"/>
            </a:endParaRPr>
          </a:p>
          <a:p>
            <a:pPr algn="l"/>
            <a:endParaRPr kumimoji="1" lang="ja-JP" altLang="en-US"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2288282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98875-5053-1046-A51E-DFD7FBFEDF85}"/>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B422E500-743E-F5C8-EEC0-FA61487B286D}"/>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まず担当業務紹介になります。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私は今年の</a:t>
            </a:r>
            <a:r>
              <a:rPr kumimoji="1" lang="en-US" altLang="ja-JP" sz="1400" dirty="0">
                <a:latin typeface="BIZ UDP明朝 Medium" panose="02020500000000000000" pitchFamily="18" charset="-128"/>
                <a:ea typeface="BIZ UDP明朝 Medium" panose="02020500000000000000" pitchFamily="18" charset="-128"/>
              </a:rPr>
              <a:t>7</a:t>
            </a:r>
            <a:r>
              <a:rPr kumimoji="1" lang="ja-JP" altLang="en-US" sz="1400" dirty="0">
                <a:latin typeface="BIZ UDP明朝 Medium" panose="02020500000000000000" pitchFamily="18" charset="-128"/>
                <a:ea typeface="BIZ UDP明朝 Medium" panose="02020500000000000000" pitchFamily="18" charset="-128"/>
              </a:rPr>
              <a:t>月よりロジスティクス推進第１課に配属させていただきまして</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現在の担当業務としては海外工場発出荷をサポートする仲介業務と</a:t>
            </a:r>
            <a:r>
              <a:rPr kumimoji="1" lang="en-US" altLang="ja-JP" sz="1400" dirty="0">
                <a:latin typeface="BIZ UDP明朝 Medium" panose="02020500000000000000" pitchFamily="18" charset="-128"/>
                <a:ea typeface="BIZ UDP明朝 Medium" panose="02020500000000000000" pitchFamily="18" charset="-128"/>
              </a:rPr>
              <a:t>DP</a:t>
            </a:r>
            <a:r>
              <a:rPr kumimoji="1" lang="ja-JP" altLang="en-US" sz="1400" dirty="0">
                <a:latin typeface="BIZ UDP明朝 Medium" panose="02020500000000000000" pitchFamily="18" charset="-128"/>
                <a:ea typeface="BIZ UDP明朝 Medium" panose="02020500000000000000" pitchFamily="18" charset="-128"/>
              </a:rPr>
              <a:t>事業ロジとして物流効率化改善活動などを行わせていただいております。　</a:t>
            </a:r>
          </a:p>
        </p:txBody>
      </p:sp>
    </p:spTree>
    <p:extLst>
      <p:ext uri="{BB962C8B-B14F-4D97-AF65-F5344CB8AC3E}">
        <p14:creationId xmlns:p14="http://schemas.microsoft.com/office/powerpoint/2010/main" val="38590217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541447-BE86-184F-B6CB-1562504F969D}"/>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2BA692FF-06B6-6AD9-CC5A-83AC86043AC4}"/>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続いて研修を受けての気づきと今回取り込んだテーマについてです。</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研修の中で、</a:t>
            </a:r>
            <a:r>
              <a:rPr kumimoji="1" lang="en-US" altLang="ja-JP" sz="1400" dirty="0">
                <a:latin typeface="BIZ UDP明朝 Medium" panose="02020500000000000000" pitchFamily="18" charset="-128"/>
                <a:ea typeface="BIZ UDP明朝 Medium" panose="02020500000000000000" pitchFamily="18" charset="-128"/>
              </a:rPr>
              <a:t>INC</a:t>
            </a:r>
            <a:r>
              <a:rPr lang="ja-JP" altLang="en-US" sz="1400" dirty="0">
                <a:latin typeface="BIZ UDP明朝 Medium" panose="02020500000000000000" pitchFamily="18" charset="-128"/>
                <a:ea typeface="BIZ UDP明朝 Medium" panose="02020500000000000000" pitchFamily="18" charset="-128"/>
              </a:rPr>
              <a:t>・</a:t>
            </a:r>
            <a:r>
              <a:rPr kumimoji="1" lang="en-US" altLang="ja-JP" sz="1400" dirty="0">
                <a:latin typeface="BIZ UDP明朝 Medium" panose="02020500000000000000" pitchFamily="18" charset="-128"/>
                <a:ea typeface="BIZ UDP明朝 Medium" panose="02020500000000000000" pitchFamily="18" charset="-128"/>
              </a:rPr>
              <a:t>CMJ</a:t>
            </a:r>
            <a:r>
              <a:rPr kumimoji="1" lang="ja-JP" altLang="en-US" sz="1400" dirty="0">
                <a:latin typeface="BIZ UDP明朝 Medium" panose="02020500000000000000" pitchFamily="18" charset="-128"/>
                <a:ea typeface="BIZ UDP明朝 Medium" panose="02020500000000000000" pitchFamily="18" charset="-128"/>
              </a:rPr>
              <a:t>の共同倉庫である舞浜物流センターを見学させていただく機会がありました。</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その見学させていただく中で、インクジェットプリンタの製品荷姿でコーナーガードの設置が統一されていないことに気が付きました。</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右側の写真見ていただくと、右側の写真見ていただくと左側がコーナーガード</a:t>
            </a:r>
            <a:r>
              <a:rPr lang="ja-JP" altLang="en-US" sz="1400" dirty="0">
                <a:latin typeface="BIZ UDP明朝 Medium" panose="02020500000000000000" pitchFamily="18" charset="-128"/>
                <a:ea typeface="BIZ UDP明朝 Medium" panose="02020500000000000000" pitchFamily="18" charset="-128"/>
              </a:rPr>
              <a:t>、製品の四隅を保護する資材ものがあるもので、右側がついていないものになっております。</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こちら、コーナーガード設置されていない荷姿で統一することができたらコストダウンにつながるのではないかとその時感じまして、</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ロジ基礎を通した取り組みテーマとしてコーナーガード廃止検討を取り組ませていただきました。</a:t>
            </a:r>
            <a:endParaRPr kumimoji="1" lang="ja-JP" altLang="en-US"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881585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73BFD-3629-8892-13F3-8541E8A2E2B9}"/>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4039CBEE-2CB6-2699-7AC7-98057E937F41}"/>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取り組みテーマの概要目的について話します。</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コーナーガードを廃止してコストダウンを行うといったところで、</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目的としてはコーナーガードそのもの</a:t>
            </a:r>
            <a:r>
              <a:rPr lang="en-US" altLang="ja-JP" sz="1400" dirty="0">
                <a:latin typeface="BIZ UDP明朝 Medium" panose="02020500000000000000" pitchFamily="18" charset="-128"/>
                <a:ea typeface="BIZ UDP明朝 Medium" panose="02020500000000000000" pitchFamily="18" charset="-128"/>
              </a:rPr>
              <a:t>(</a:t>
            </a:r>
            <a:r>
              <a:rPr lang="ja-JP" altLang="en-US" sz="1400" dirty="0">
                <a:latin typeface="BIZ UDP明朝 Medium" panose="02020500000000000000" pitchFamily="18" charset="-128"/>
                <a:ea typeface="BIZ UDP明朝 Medium" panose="02020500000000000000" pitchFamily="18" charset="-128"/>
              </a:rPr>
              <a:t>梱包材費用</a:t>
            </a:r>
            <a:r>
              <a:rPr lang="en-US" altLang="ja-JP" sz="1400" dirty="0">
                <a:latin typeface="BIZ UDP明朝 Medium" panose="02020500000000000000" pitchFamily="18" charset="-128"/>
                <a:ea typeface="BIZ UDP明朝 Medium" panose="02020500000000000000" pitchFamily="18" charset="-128"/>
              </a:rPr>
              <a:t>)</a:t>
            </a:r>
            <a:r>
              <a:rPr lang="ja-JP" altLang="en-US" sz="1400" dirty="0">
                <a:latin typeface="BIZ UDP明朝 Medium" panose="02020500000000000000" pitchFamily="18" charset="-128"/>
                <a:ea typeface="BIZ UDP明朝 Medium" panose="02020500000000000000" pitchFamily="18" charset="-128"/>
              </a:rPr>
              <a:t>の削減、そしてコーナーガードを設置する設置作業の工数削減といったところがあります。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今回対象製品とするのは業務で担当させていただいている</a:t>
            </a:r>
            <a:r>
              <a:rPr kumimoji="1" lang="en-US" altLang="ja-JP" sz="1400" dirty="0">
                <a:latin typeface="BIZ UDP明朝 Medium" panose="02020500000000000000" pitchFamily="18" charset="-128"/>
                <a:ea typeface="BIZ UDP明朝 Medium" panose="02020500000000000000" pitchFamily="18" charset="-128"/>
              </a:rPr>
              <a:t>DP</a:t>
            </a:r>
            <a:r>
              <a:rPr lang="ja-JP" altLang="en-US" sz="1400" dirty="0">
                <a:latin typeface="BIZ UDP明朝 Medium" panose="02020500000000000000" pitchFamily="18" charset="-128"/>
                <a:ea typeface="BIZ UDP明朝 Medium" panose="02020500000000000000" pitchFamily="18" charset="-128"/>
              </a:rPr>
              <a:t>本体とそのアクセサリに絞って検討いたしました。</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施策を進めるにあたって流れを設定して取り組みましたのでその進捗をこの後報告させていただきます。</a:t>
            </a:r>
          </a:p>
        </p:txBody>
      </p:sp>
    </p:spTree>
    <p:extLst>
      <p:ext uri="{BB962C8B-B14F-4D97-AF65-F5344CB8AC3E}">
        <p14:creationId xmlns:p14="http://schemas.microsoft.com/office/powerpoint/2010/main" val="2335846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3FF6-28A8-4BD4-765C-3B77533BA6BA}"/>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C060A6B4-8DE9-C112-C7AA-D8BD03EABE4A}"/>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まず対象製品の</a:t>
            </a:r>
            <a:r>
              <a:rPr kumimoji="1" lang="en-US" altLang="ja-JP" sz="1400" dirty="0">
                <a:latin typeface="BIZ UDP明朝 Medium" panose="02020500000000000000" pitchFamily="18" charset="-128"/>
                <a:ea typeface="BIZ UDP明朝 Medium" panose="02020500000000000000" pitchFamily="18" charset="-128"/>
              </a:rPr>
              <a:t>DP</a:t>
            </a:r>
            <a:r>
              <a:rPr kumimoji="1" lang="ja-JP" altLang="en-US" sz="1400" dirty="0">
                <a:latin typeface="BIZ UDP明朝 Medium" panose="02020500000000000000" pitchFamily="18" charset="-128"/>
                <a:ea typeface="BIZ UDP明朝 Medium" panose="02020500000000000000" pitchFamily="18" charset="-128"/>
              </a:rPr>
              <a:t>本体とそのアクセサリにおけるコーナーガード設置状況についてです。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こちらの表が設置状況の調査結果をまとめたになります。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一番上の</a:t>
            </a:r>
            <a:r>
              <a:rPr kumimoji="1" lang="ja-JP" altLang="en-US" sz="1400" dirty="0">
                <a:latin typeface="BIZ UDP明朝 Medium" panose="02020500000000000000" pitchFamily="18" charset="-128"/>
                <a:ea typeface="BIZ UDP明朝 Medium" panose="02020500000000000000" pitchFamily="18" charset="-128"/>
              </a:rPr>
              <a:t>行を各製品で分けておりまして</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３行目にその製品に対するコーナーガードの設置状況を記載しております。</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✖がコーナーガードが設置されていない。△が一部製品にコーナーガードが設置されている。〇が全製品にコーナーガードが設置されているという見方になります。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表を見ていただくと、</a:t>
            </a:r>
            <a:r>
              <a:rPr lang="en-US" altLang="ja-JP" sz="1400" dirty="0">
                <a:latin typeface="BIZ UDP明朝 Medium" panose="02020500000000000000" pitchFamily="18" charset="-128"/>
                <a:ea typeface="BIZ UDP明朝 Medium" panose="02020500000000000000" pitchFamily="18" charset="-128"/>
              </a:rPr>
              <a:t>IJ</a:t>
            </a:r>
            <a:r>
              <a:rPr lang="ja-JP" altLang="en-US" sz="1400" dirty="0">
                <a:latin typeface="BIZ UDP明朝 Medium" panose="02020500000000000000" pitchFamily="18" charset="-128"/>
                <a:ea typeface="BIZ UDP明朝 Medium" panose="02020500000000000000" pitchFamily="18" charset="-128"/>
              </a:rPr>
              <a:t>プリンタ、</a:t>
            </a: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のところで主にコーナーガードが設置されている状況がわかります。</a:t>
            </a:r>
            <a:endParaRPr kumimoji="1"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2594010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89859F-5E82-F881-5CB7-D0EE54AD1F6D}"/>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C2AAA93D-7DA5-2F5A-35A8-489B7E65B4D9}"/>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今回コーナーガード廃止検討を行う対象といたしましては、</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表内で赤字で塗りつぶされている部分になります。。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en-US" altLang="ja-JP" sz="1400" dirty="0">
                <a:latin typeface="BIZ UDP明朝 Medium" panose="02020500000000000000" pitchFamily="18" charset="-128"/>
                <a:ea typeface="BIZ UDP明朝 Medium" panose="02020500000000000000" pitchFamily="18" charset="-128"/>
              </a:rPr>
              <a:t>IJ</a:t>
            </a:r>
            <a:r>
              <a:rPr kumimoji="1" lang="ja-JP" altLang="en-US" sz="1400" dirty="0">
                <a:latin typeface="BIZ UDP明朝 Medium" panose="02020500000000000000" pitchFamily="18" charset="-128"/>
                <a:ea typeface="BIZ UDP明朝 Medium" panose="02020500000000000000" pitchFamily="18" charset="-128"/>
              </a:rPr>
              <a:t>プリンタの中で</a:t>
            </a:r>
            <a:r>
              <a:rPr kumimoji="1" lang="en-US" altLang="ja-JP" sz="1400" dirty="0">
                <a:latin typeface="BIZ UDP明朝 Medium" panose="02020500000000000000" pitchFamily="18" charset="-128"/>
                <a:ea typeface="BIZ UDP明朝 Medium" panose="02020500000000000000" pitchFamily="18" charset="-128"/>
              </a:rPr>
              <a:t>CVN</a:t>
            </a:r>
            <a:r>
              <a:rPr kumimoji="1" lang="ja-JP" altLang="en-US" sz="1400" dirty="0">
                <a:latin typeface="BIZ UDP明朝 Medium" panose="02020500000000000000" pitchFamily="18" charset="-128"/>
                <a:ea typeface="BIZ UDP明朝 Medium" panose="02020500000000000000" pitchFamily="18" charset="-128"/>
              </a:rPr>
              <a:t>製１モデルと、</a:t>
            </a:r>
            <a:r>
              <a:rPr kumimoji="1" lang="en-US" altLang="ja-JP" sz="1400" dirty="0">
                <a:latin typeface="BIZ UDP明朝 Medium" panose="02020500000000000000" pitchFamily="18" charset="-128"/>
                <a:ea typeface="BIZ UDP明朝 Medium" panose="02020500000000000000" pitchFamily="18" charset="-128"/>
              </a:rPr>
              <a:t>LBP</a:t>
            </a:r>
            <a:r>
              <a:rPr kumimoji="1" lang="ja-JP" altLang="en-US" sz="1400" dirty="0">
                <a:latin typeface="BIZ UDP明朝 Medium" panose="02020500000000000000" pitchFamily="18" charset="-128"/>
                <a:ea typeface="BIZ UDP明朝 Medium" panose="02020500000000000000" pitchFamily="18" charset="-128"/>
              </a:rPr>
              <a:t>、その中でも多機能プリンタである</a:t>
            </a:r>
            <a:r>
              <a:rPr kumimoji="1" lang="en-US" altLang="ja-JP" sz="1400" dirty="0">
                <a:latin typeface="BIZ UDP明朝 Medium" panose="02020500000000000000" pitchFamily="18" charset="-128"/>
                <a:ea typeface="BIZ UDP明朝 Medium" panose="02020500000000000000" pitchFamily="18" charset="-128"/>
              </a:rPr>
              <a:t>MFP</a:t>
            </a:r>
            <a:r>
              <a:rPr kumimoji="1" lang="ja-JP" altLang="en-US" sz="1400" dirty="0">
                <a:latin typeface="BIZ UDP明朝 Medium" panose="02020500000000000000" pitchFamily="18" charset="-128"/>
                <a:ea typeface="BIZ UDP明朝 Medium" panose="02020500000000000000" pitchFamily="18" charset="-128"/>
              </a:rPr>
              <a:t>のキヤノンブランドの製品</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この２つに絞って削減検討をしております。</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こちらはコーナーガードが設置されている理由をヒアリングさせていただいたうえで削減実現性が高いということで</a:t>
            </a:r>
            <a:endParaRPr kumimoji="1"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まずはこの２つに絞って検討を開始させていただいております。</a:t>
            </a:r>
            <a:endParaRPr kumimoji="1" lang="en-US" altLang="ja-JP" sz="1400" dirty="0">
              <a:latin typeface="BIZ UDP明朝 Medium" panose="02020500000000000000" pitchFamily="18" charset="-128"/>
              <a:ea typeface="BIZ UDP明朝 Medium" panose="02020500000000000000" pitchFamily="18" charset="-128"/>
            </a:endParaRPr>
          </a:p>
          <a:p>
            <a:pPr algn="l"/>
            <a:endParaRPr kumimoji="1"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37092812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FCC67-2616-CD5C-E5E1-9A39D75A49E9}"/>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98AAB2A5-20D4-04EE-70B9-492AEF164E5A}"/>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では早速１つ目の</a:t>
            </a:r>
            <a:r>
              <a:rPr kumimoji="1" lang="en-US" altLang="ja-JP" sz="1400" dirty="0">
                <a:latin typeface="BIZ UDP明朝 Medium" panose="02020500000000000000" pitchFamily="18" charset="-128"/>
                <a:ea typeface="BIZ UDP明朝 Medium" panose="02020500000000000000" pitchFamily="18" charset="-128"/>
              </a:rPr>
              <a:t>CVN</a:t>
            </a:r>
            <a:r>
              <a:rPr kumimoji="1" lang="ja-JP" altLang="en-US" sz="1400" dirty="0">
                <a:latin typeface="BIZ UDP明朝 Medium" panose="02020500000000000000" pitchFamily="18" charset="-128"/>
                <a:ea typeface="BIZ UDP明朝 Medium" panose="02020500000000000000" pitchFamily="18" charset="-128"/>
              </a:rPr>
              <a:t>製の</a:t>
            </a:r>
            <a:r>
              <a:rPr kumimoji="1" lang="en-US" altLang="ja-JP" sz="1400" dirty="0">
                <a:latin typeface="BIZ UDP明朝 Medium" panose="02020500000000000000" pitchFamily="18" charset="-128"/>
                <a:ea typeface="BIZ UDP明朝 Medium" panose="02020500000000000000" pitchFamily="18" charset="-128"/>
              </a:rPr>
              <a:t>IJ</a:t>
            </a:r>
            <a:r>
              <a:rPr kumimoji="1" lang="ja-JP" altLang="en-US" sz="1400" dirty="0">
                <a:latin typeface="BIZ UDP明朝 Medium" panose="02020500000000000000" pitchFamily="18" charset="-128"/>
                <a:ea typeface="BIZ UDP明朝 Medium" panose="02020500000000000000" pitchFamily="18" charset="-128"/>
              </a:rPr>
              <a:t>プリンタの削減検討についてです。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こちらコーナーガードが設置されている製品は</a:t>
            </a:r>
            <a:r>
              <a:rPr lang="en-US" altLang="ja-JP" sz="1400" dirty="0">
                <a:latin typeface="BIZ UDP明朝 Medium" panose="02020500000000000000" pitchFamily="18" charset="-128"/>
                <a:ea typeface="BIZ UDP明朝 Medium" panose="02020500000000000000" pitchFamily="18" charset="-128"/>
              </a:rPr>
              <a:t>TS</a:t>
            </a:r>
            <a:r>
              <a:rPr lang="ja-JP" altLang="en-US" sz="1400" dirty="0">
                <a:latin typeface="BIZ UDP明朝 Medium" panose="02020500000000000000" pitchFamily="18" charset="-128"/>
                <a:ea typeface="BIZ UDP明朝 Medium" panose="02020500000000000000" pitchFamily="18" charset="-128"/>
              </a:rPr>
              <a:t>５４３０という家庭向けのインクジェットプリンタなのですが、</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こちらの日本向け製品のみにコーナーガードが設置されている状況でした</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コーナーガードが設置されている理由としては、過去この製品各販社から箱潰れクレームが発生しまして</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その時にダメージ対策として</a:t>
            </a:r>
            <a:r>
              <a:rPr kumimoji="1" lang="en-US" altLang="ja-JP" sz="1400" dirty="0">
                <a:latin typeface="BIZ UDP明朝 Medium" panose="02020500000000000000" pitchFamily="18" charset="-128"/>
                <a:ea typeface="BIZ UDP明朝 Medium" panose="02020500000000000000" pitchFamily="18" charset="-128"/>
              </a:rPr>
              <a:t>AIRBAG(</a:t>
            </a:r>
            <a:r>
              <a:rPr kumimoji="1" lang="ja-JP" altLang="en-US" sz="1400" dirty="0">
                <a:latin typeface="BIZ UDP明朝 Medium" panose="02020500000000000000" pitchFamily="18" charset="-128"/>
                <a:ea typeface="BIZ UDP明朝 Medium" panose="02020500000000000000" pitchFamily="18" charset="-128"/>
              </a:rPr>
              <a:t>貨物の隙間に挟む緩衝材になるのですが</a:t>
            </a:r>
            <a:r>
              <a:rPr kumimoji="1" lang="en-US" altLang="ja-JP" sz="1400" dirty="0">
                <a:latin typeface="BIZ UDP明朝 Medium" panose="02020500000000000000" pitchFamily="18" charset="-128"/>
                <a:ea typeface="BIZ UDP明朝 Medium" panose="02020500000000000000" pitchFamily="18" charset="-128"/>
              </a:rPr>
              <a:t>)</a:t>
            </a:r>
            <a:r>
              <a:rPr kumimoji="1" lang="ja-JP" altLang="en-US" sz="1400" dirty="0">
                <a:latin typeface="BIZ UDP明朝 Medium" panose="02020500000000000000" pitchFamily="18" charset="-128"/>
                <a:ea typeface="BIZ UDP明朝 Medium" panose="02020500000000000000" pitchFamily="18" charset="-128"/>
              </a:rPr>
              <a:t>そちらの減圧対策を実施しました。ただ日本向けはそれに加えてコーナーガードを当時の品保・包装設計・</a:t>
            </a:r>
            <a:r>
              <a:rPr kumimoji="1" lang="en-US" altLang="ja-JP" sz="1400" dirty="0">
                <a:latin typeface="BIZ UDP明朝 Medium" panose="02020500000000000000" pitchFamily="18" charset="-128"/>
                <a:ea typeface="BIZ UDP明朝 Medium" panose="02020500000000000000" pitchFamily="18" charset="-128"/>
              </a:rPr>
              <a:t>INC</a:t>
            </a:r>
            <a:r>
              <a:rPr kumimoji="1" lang="ja-JP" altLang="en-US" sz="1400" dirty="0">
                <a:latin typeface="BIZ UDP明朝 Medium" panose="02020500000000000000" pitchFamily="18" charset="-128"/>
                <a:ea typeface="BIZ UDP明朝 Medium" panose="02020500000000000000" pitchFamily="18" charset="-128"/>
              </a:rPr>
              <a:t>ロジメンバーで協議したうえで設置しているというのがコーナーガードの設置の経緯でした。</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こちら経緯を理解したうえで、日本向けのみ設置されているコーナーガード、これが本当に必要なのか、削減できないのかということを</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感じまして、調整を進めまして。</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実際に海外販社に確認したところ対策以降ダメージは発生していないいった確認が取れたうえで</a:t>
            </a:r>
            <a:br>
              <a:rPr kumimoji="1" lang="en-US" altLang="ja-JP" sz="1400" dirty="0">
                <a:latin typeface="BIZ UDP明朝 Medium" panose="02020500000000000000" pitchFamily="18" charset="-128"/>
                <a:ea typeface="BIZ UDP明朝 Medium" panose="02020500000000000000" pitchFamily="18" charset="-128"/>
              </a:rPr>
            </a:br>
            <a:r>
              <a:rPr kumimoji="1" lang="ja-JP" altLang="en-US" sz="1400" dirty="0">
                <a:latin typeface="BIZ UDP明朝 Medium" panose="02020500000000000000" pitchFamily="18" charset="-128"/>
                <a:ea typeface="BIZ UDP明朝 Medium" panose="02020500000000000000" pitchFamily="18" charset="-128"/>
              </a:rPr>
              <a:t>日本向けの出荷に対して</a:t>
            </a:r>
            <a:r>
              <a:rPr kumimoji="1" lang="en-US" altLang="ja-JP" sz="1400" dirty="0">
                <a:latin typeface="BIZ UDP明朝 Medium" panose="02020500000000000000" pitchFamily="18" charset="-128"/>
                <a:ea typeface="BIZ UDP明朝 Medium" panose="02020500000000000000" pitchFamily="18" charset="-128"/>
              </a:rPr>
              <a:t>AIRBAG</a:t>
            </a:r>
            <a:r>
              <a:rPr kumimoji="1" lang="ja-JP" altLang="en-US" sz="1400" dirty="0">
                <a:latin typeface="BIZ UDP明朝 Medium" panose="02020500000000000000" pitchFamily="18" charset="-128"/>
                <a:ea typeface="BIZ UDP明朝 Medium" panose="02020500000000000000" pitchFamily="18" charset="-128"/>
              </a:rPr>
              <a:t>の減圧になりますがダメージ対策を追加で実施したという材料を基に</a:t>
            </a:r>
            <a:br>
              <a:rPr lang="en-US" altLang="ja-JP" sz="1400" dirty="0">
                <a:latin typeface="BIZ UDP明朝 Medium" panose="02020500000000000000" pitchFamily="18" charset="-128"/>
                <a:ea typeface="BIZ UDP明朝 Medium" panose="02020500000000000000" pitchFamily="18" charset="-128"/>
              </a:rPr>
            </a:br>
            <a:r>
              <a:rPr lang="en-US" altLang="ja-JP" sz="1400" dirty="0">
                <a:latin typeface="BIZ UDP明朝 Medium" panose="02020500000000000000" pitchFamily="18" charset="-128"/>
                <a:ea typeface="BIZ UDP明朝 Medium" panose="02020500000000000000" pitchFamily="18" charset="-128"/>
              </a:rPr>
              <a:t>CMJ</a:t>
            </a:r>
            <a:r>
              <a:rPr lang="ja-JP" altLang="en-US" sz="1400" dirty="0">
                <a:latin typeface="BIZ UDP明朝 Medium" panose="02020500000000000000" pitchFamily="18" charset="-128"/>
                <a:ea typeface="BIZ UDP明朝 Medium" panose="02020500000000000000" pitchFamily="18" charset="-128"/>
              </a:rPr>
              <a:t>にコーナーガードを削減できないかという調整をして</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万が一ダメージが発生したら元の荷姿に戻すという条件のもと、削減の承諾をいただきましたのですが</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こちらの製品は来年の４月に生産終了するアイテムということが判明して採算が見込めず断念とさせていただいております。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またこちら後継機種があるのですがそちらはもうコーナーガード無しの荷姿になっているということを確認できています。</a:t>
            </a:r>
            <a:endParaRPr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3810623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F57CA5-65E4-E8B3-68A0-FDBFC2056744}"/>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63C66308-3687-6D87-B804-669EB8C9B68C}"/>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続いて</a:t>
            </a:r>
            <a:r>
              <a:rPr lang="en-US" altLang="ja-JP" sz="1400" dirty="0">
                <a:latin typeface="BIZ UDP明朝 Medium" panose="02020500000000000000" pitchFamily="18" charset="-128"/>
                <a:ea typeface="BIZ UDP明朝 Medium" panose="02020500000000000000" pitchFamily="18" charset="-128"/>
              </a:rPr>
              <a:t>MFP</a:t>
            </a:r>
            <a:r>
              <a:rPr lang="ja-JP" altLang="en-US" sz="1400" dirty="0">
                <a:latin typeface="BIZ UDP明朝 Medium" panose="02020500000000000000" pitchFamily="18" charset="-128"/>
                <a:ea typeface="BIZ UDP明朝 Medium" panose="02020500000000000000" pitchFamily="18" charset="-128"/>
              </a:rPr>
              <a:t>の削減検討にです。</a:t>
            </a:r>
            <a:endParaRPr lang="en-US" altLang="ja-JP" sz="1400" dirty="0">
              <a:latin typeface="BIZ UDP明朝 Medium" panose="02020500000000000000" pitchFamily="18" charset="-128"/>
              <a:ea typeface="BIZ UDP明朝 Medium" panose="02020500000000000000" pitchFamily="18" charset="-128"/>
            </a:endParaRPr>
          </a:p>
          <a:p>
            <a:pPr algn="l"/>
            <a:r>
              <a:rPr kumimoji="1" lang="ja-JP" altLang="en-US" sz="1400" dirty="0">
                <a:latin typeface="BIZ UDP明朝 Medium" panose="02020500000000000000" pitchFamily="18" charset="-128"/>
                <a:ea typeface="BIZ UDP明朝 Medium" panose="02020500000000000000" pitchFamily="18" charset="-128"/>
              </a:rPr>
              <a:t>コーナーガードが設置されている製品は</a:t>
            </a:r>
            <a:r>
              <a:rPr kumimoji="1" lang="en-US" altLang="ja-JP" sz="1400" dirty="0">
                <a:latin typeface="BIZ UDP明朝 Medium" panose="02020500000000000000" pitchFamily="18" charset="-128"/>
                <a:ea typeface="BIZ UDP明朝 Medium" panose="02020500000000000000" pitchFamily="18" charset="-128"/>
              </a:rPr>
              <a:t>CANON</a:t>
            </a:r>
            <a:r>
              <a:rPr kumimoji="1" lang="ja-JP" altLang="en-US" sz="1400" dirty="0">
                <a:latin typeface="BIZ UDP明朝 Medium" panose="02020500000000000000" pitchFamily="18" charset="-128"/>
                <a:ea typeface="BIZ UDP明朝 Medium" panose="02020500000000000000" pitchFamily="18" charset="-128"/>
              </a:rPr>
              <a:t>設計モデルの全向けで</a:t>
            </a:r>
            <a:br>
              <a:rPr kumimoji="1"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コーナーガードが設置されている理由としては、</a:t>
            </a: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は</a:t>
            </a:r>
            <a:r>
              <a:rPr lang="en-US" altLang="ja-JP" sz="1400" dirty="0">
                <a:latin typeface="BIZ UDP明朝 Medium" panose="02020500000000000000" pitchFamily="18" charset="-128"/>
                <a:ea typeface="BIZ UDP明朝 Medium" panose="02020500000000000000" pitchFamily="18" charset="-128"/>
              </a:rPr>
              <a:t>HP</a:t>
            </a:r>
            <a:r>
              <a:rPr lang="ja-JP" altLang="en-US" sz="1400" dirty="0">
                <a:latin typeface="BIZ UDP明朝 Medium" panose="02020500000000000000" pitchFamily="18" charset="-128"/>
                <a:ea typeface="BIZ UDP明朝 Medium" panose="02020500000000000000" pitchFamily="18" charset="-128"/>
              </a:rPr>
              <a:t>ブランドの製品もあるのですが、そちらの包装設計が</a:t>
            </a:r>
            <a:r>
              <a:rPr lang="en-US" altLang="ja-JP" sz="1400" dirty="0">
                <a:latin typeface="BIZ UDP明朝 Medium" panose="02020500000000000000" pitchFamily="18" charset="-128"/>
                <a:ea typeface="BIZ UDP明朝 Medium" panose="02020500000000000000" pitchFamily="18" charset="-128"/>
              </a:rPr>
              <a:t>CANON</a:t>
            </a:r>
            <a:r>
              <a:rPr lang="ja-JP" altLang="en-US" sz="1400" dirty="0">
                <a:latin typeface="BIZ UDP明朝 Medium" panose="02020500000000000000" pitchFamily="18" charset="-128"/>
                <a:ea typeface="BIZ UDP明朝 Medium" panose="02020500000000000000" pitchFamily="18" charset="-128"/>
              </a:rPr>
              <a:t>ブランドにも踏襲されているというのことが理由でした。</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ただ</a:t>
            </a:r>
            <a:r>
              <a:rPr lang="en-US" altLang="ja-JP" sz="1400" dirty="0">
                <a:latin typeface="BIZ UDP明朝 Medium" panose="02020500000000000000" pitchFamily="18" charset="-128"/>
                <a:ea typeface="BIZ UDP明朝 Medium" panose="02020500000000000000" pitchFamily="18" charset="-128"/>
              </a:rPr>
              <a:t>CANON</a:t>
            </a:r>
            <a:r>
              <a:rPr lang="ja-JP" altLang="en-US" sz="1400" dirty="0">
                <a:latin typeface="BIZ UDP明朝 Medium" panose="02020500000000000000" pitchFamily="18" charset="-128"/>
                <a:ea typeface="BIZ UDP明朝 Medium" panose="02020500000000000000" pitchFamily="18" charset="-128"/>
              </a:rPr>
              <a:t>ブランドの</a:t>
            </a: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は</a:t>
            </a:r>
            <a:r>
              <a:rPr lang="en-US" altLang="ja-JP" sz="1400" dirty="0">
                <a:latin typeface="BIZ UDP明朝 Medium" panose="02020500000000000000" pitchFamily="18" charset="-128"/>
                <a:ea typeface="BIZ UDP明朝 Medium" panose="02020500000000000000" pitchFamily="18" charset="-128"/>
              </a:rPr>
              <a:t>CANON</a:t>
            </a:r>
            <a:r>
              <a:rPr lang="ja-JP" altLang="en-US" sz="1400" dirty="0">
                <a:latin typeface="BIZ UDP明朝 Medium" panose="02020500000000000000" pitchFamily="18" charset="-128"/>
                <a:ea typeface="BIZ UDP明朝 Medium" panose="02020500000000000000" pitchFamily="18" charset="-128"/>
              </a:rPr>
              <a:t>設計だけでなく一部はキヤノンコリア</a:t>
            </a:r>
            <a:r>
              <a:rPr lang="en-US" altLang="ja-JP" sz="1400" dirty="0">
                <a:latin typeface="BIZ UDP明朝 Medium" panose="02020500000000000000" pitchFamily="18" charset="-128"/>
                <a:ea typeface="BIZ UDP明朝 Medium" panose="02020500000000000000" pitchFamily="18" charset="-128"/>
              </a:rPr>
              <a:t>CKR</a:t>
            </a:r>
            <a:r>
              <a:rPr lang="ja-JP" altLang="en-US" sz="1400" dirty="0">
                <a:latin typeface="BIZ UDP明朝 Medium" panose="02020500000000000000" pitchFamily="18" charset="-128"/>
                <a:ea typeface="BIZ UDP明朝 Medium" panose="02020500000000000000" pitchFamily="18" charset="-128"/>
              </a:rPr>
              <a:t>独自設計のモノもありまして、そちらはコーナーガードが無しで運用されています。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そこで</a:t>
            </a:r>
            <a:r>
              <a:rPr lang="en-US" altLang="ja-JP" sz="1400" dirty="0">
                <a:latin typeface="BIZ UDP明朝 Medium" panose="02020500000000000000" pitchFamily="18" charset="-128"/>
                <a:ea typeface="BIZ UDP明朝 Medium" panose="02020500000000000000" pitchFamily="18" charset="-128"/>
              </a:rPr>
              <a:t>CANON</a:t>
            </a:r>
            <a:r>
              <a:rPr lang="ja-JP" altLang="en-US" sz="1400" dirty="0">
                <a:latin typeface="BIZ UDP明朝 Medium" panose="02020500000000000000" pitchFamily="18" charset="-128"/>
                <a:ea typeface="BIZ UDP明朝 Medium" panose="02020500000000000000" pitchFamily="18" charset="-128"/>
              </a:rPr>
              <a:t>設計においてもコーナーガードが削減できないかと思いまして、同様に調整を進めました。</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海外販社に対してコーナーガード削減できないかとヒアリングしたところ、一部販社を除いてコーナーガードが削減できますという回答を頂きましたので、</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それを基に現在削減に向けて調整を進めております。</a:t>
            </a:r>
            <a:endParaRPr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222933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A9C83-0067-6128-B805-8DB559B67281}"/>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7F732B8B-AE31-7D28-1C16-D77112896990}"/>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削減に向けての今後の流れです。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を生産している工場はたくさんあるのですが、まずは物量が一番多いキヤノンベトナムの出荷からコーナーガードの削減調整を</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計画を作成して進めております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効果金額といたしましては年に約５００万と３０００時間ほどの削減を見込んでおります。こちら</a:t>
            </a:r>
            <a:r>
              <a:rPr lang="en-US" altLang="ja-JP" sz="1400" dirty="0">
                <a:latin typeface="BIZ UDP明朝 Medium" panose="02020500000000000000" pitchFamily="18" charset="-128"/>
                <a:ea typeface="BIZ UDP明朝 Medium" panose="02020500000000000000" pitchFamily="18" charset="-128"/>
              </a:rPr>
              <a:t>CVN</a:t>
            </a:r>
            <a:r>
              <a:rPr lang="ja-JP" altLang="en-US" sz="1400" dirty="0">
                <a:latin typeface="BIZ UDP明朝 Medium" panose="02020500000000000000" pitchFamily="18" charset="-128"/>
                <a:ea typeface="BIZ UDP明朝 Medium" panose="02020500000000000000" pitchFamily="18" charset="-128"/>
              </a:rPr>
              <a:t>のコーナーガード削減と工数削減というところで、製品の原価低減に効く部分となっております。</a:t>
            </a:r>
            <a:endParaRPr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149277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34FDCA-1B13-236D-60F8-3BDC20551969}"/>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737074E5-EBAF-FD28-9096-844B799F4A48}"/>
              </a:ext>
            </a:extLst>
          </p:cNvPr>
          <p:cNvSpPr>
            <a:spLocks noGrp="1"/>
          </p:cNvSpPr>
          <p:nvPr>
            <p:ph type="subTitle" idx="1"/>
          </p:nvPr>
        </p:nvSpPr>
        <p:spPr>
          <a:xfrm>
            <a:off x="0" y="0"/>
            <a:ext cx="12192000" cy="6858000"/>
          </a:xfrm>
        </p:spPr>
        <p:txBody>
          <a:bodyPr>
            <a:normAutofit/>
          </a:bodyPr>
          <a:lstStyle/>
          <a:p>
            <a:pPr algn="l"/>
            <a:r>
              <a:rPr kumimoji="1" lang="ja-JP" altLang="en-US" sz="1400" dirty="0">
                <a:latin typeface="BIZ UDP明朝 Medium" panose="02020500000000000000" pitchFamily="18" charset="-128"/>
                <a:ea typeface="BIZ UDP明朝 Medium" panose="02020500000000000000" pitchFamily="18" charset="-128"/>
              </a:rPr>
              <a:t>本施策のまとめになります。</a:t>
            </a:r>
            <a:endParaRPr kumimoji="1"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今回コーナーガード削減対象として２つ対象を絞って検討させていただきました。</a:t>
            </a:r>
            <a:endParaRPr lang="en-US" altLang="ja-JP" sz="1400" dirty="0">
              <a:latin typeface="BIZ UDP明朝 Medium" panose="02020500000000000000" pitchFamily="18" charset="-128"/>
              <a:ea typeface="BIZ UDP明朝 Medium" panose="02020500000000000000" pitchFamily="18" charset="-128"/>
            </a:endParaRPr>
          </a:p>
          <a:p>
            <a:pPr algn="l"/>
            <a:r>
              <a:rPr lang="en-US" altLang="ja-JP" sz="1400" dirty="0">
                <a:latin typeface="BIZ UDP明朝 Medium" panose="02020500000000000000" pitchFamily="18" charset="-128"/>
                <a:ea typeface="BIZ UDP明朝 Medium" panose="02020500000000000000" pitchFamily="18" charset="-128"/>
              </a:rPr>
              <a:t>IJ</a:t>
            </a:r>
            <a:r>
              <a:rPr lang="ja-JP" altLang="en-US" sz="1400" dirty="0">
                <a:latin typeface="BIZ UDP明朝 Medium" panose="02020500000000000000" pitchFamily="18" charset="-128"/>
                <a:ea typeface="BIZ UDP明朝 Medium" panose="02020500000000000000" pitchFamily="18" charset="-128"/>
              </a:rPr>
              <a:t>プリンタの方は採算が見込めず断念とさせていただきましたが、</a:t>
            </a:r>
            <a:br>
              <a:rPr lang="en-US" altLang="ja-JP" sz="1400" dirty="0">
                <a:latin typeface="BIZ UDP明朝 Medium" panose="02020500000000000000" pitchFamily="18" charset="-128"/>
                <a:ea typeface="BIZ UDP明朝 Medium" panose="02020500000000000000" pitchFamily="18" charset="-128"/>
              </a:rPr>
            </a:b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の方はキヤノンベトナム発よりコーナーガードの削減を調整中といったところで進めております。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今後の課題としては</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今回</a:t>
            </a: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はキヤノンベトナムよりコーナーガード削減調整を行っていますが、</a:t>
            </a:r>
            <a:br>
              <a:rPr lang="en-US" altLang="ja-JP" sz="1400" dirty="0">
                <a:latin typeface="BIZ UDP明朝 Medium" panose="02020500000000000000" pitchFamily="18" charset="-128"/>
                <a:ea typeface="BIZ UDP明朝 Medium" panose="02020500000000000000" pitchFamily="18" charset="-128"/>
              </a:rPr>
            </a:br>
            <a:r>
              <a:rPr lang="en-US" altLang="ja-JP" sz="1400" dirty="0">
                <a:latin typeface="BIZ UDP明朝 Medium" panose="02020500000000000000" pitchFamily="18" charset="-128"/>
                <a:ea typeface="BIZ UDP明朝 Medium" panose="02020500000000000000" pitchFamily="18" charset="-128"/>
              </a:rPr>
              <a:t>LBP</a:t>
            </a:r>
            <a:r>
              <a:rPr lang="ja-JP" altLang="en-US" sz="1400" dirty="0">
                <a:latin typeface="BIZ UDP明朝 Medium" panose="02020500000000000000" pitchFamily="18" charset="-128"/>
                <a:ea typeface="BIZ UDP明朝 Medium" panose="02020500000000000000" pitchFamily="18" charset="-128"/>
              </a:rPr>
              <a:t>生産している工場</a:t>
            </a:r>
            <a:r>
              <a:rPr lang="en-US" altLang="ja-JP" sz="1400" dirty="0">
                <a:latin typeface="BIZ UDP明朝 Medium" panose="02020500000000000000" pitchFamily="18" charset="-128"/>
                <a:ea typeface="BIZ UDP明朝 Medium" panose="02020500000000000000" pitchFamily="18" charset="-128"/>
              </a:rPr>
              <a:t>CKR</a:t>
            </a:r>
            <a:r>
              <a:rPr lang="ja-JP" altLang="en-US" sz="1400" dirty="0">
                <a:latin typeface="BIZ UDP明朝 Medium" panose="02020500000000000000" pitchFamily="18" charset="-128"/>
                <a:ea typeface="BIZ UDP明朝 Medium" panose="02020500000000000000" pitchFamily="18" charset="-128"/>
              </a:rPr>
              <a:t>、</a:t>
            </a:r>
            <a:r>
              <a:rPr lang="en-US" altLang="ja-JP" sz="1400" dirty="0">
                <a:latin typeface="BIZ UDP明朝 Medium" panose="02020500000000000000" pitchFamily="18" charset="-128"/>
                <a:ea typeface="BIZ UDP明朝 Medium" panose="02020500000000000000" pitchFamily="18" charset="-128"/>
              </a:rPr>
              <a:t>C</a:t>
            </a:r>
            <a:r>
              <a:rPr lang="ja-JP" altLang="en-US" sz="1400" dirty="0">
                <a:latin typeface="BIZ UDP明朝 Medium" panose="02020500000000000000" pitchFamily="18" charset="-128"/>
                <a:ea typeface="BIZ UDP明朝 Medium" panose="02020500000000000000" pitchFamily="18" charset="-128"/>
              </a:rPr>
              <a:t>蘇州もありますので、そちら他の工場への展開というところも図っていく必要があると</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また、今回削減対象にしなかったものののコーナーガードがついている製品は他にもありますので、そちらへの展開も進めていくといったところが課題になってくると考えております。</a:t>
            </a:r>
            <a:endParaRPr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403954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606B8-09CB-6CFD-7232-B0D2E2187648}"/>
            </a:ext>
          </a:extLst>
        </p:cNvPr>
        <p:cNvGrpSpPr/>
        <p:nvPr/>
      </p:nvGrpSpPr>
      <p:grpSpPr>
        <a:xfrm>
          <a:off x="0" y="0"/>
          <a:ext cx="0" cy="0"/>
          <a:chOff x="0" y="0"/>
          <a:chExt cx="0" cy="0"/>
        </a:xfrm>
      </p:grpSpPr>
      <p:sp>
        <p:nvSpPr>
          <p:cNvPr id="3" name="字幕 2">
            <a:extLst>
              <a:ext uri="{FF2B5EF4-FFF2-40B4-BE49-F238E27FC236}">
                <a16:creationId xmlns:a16="http://schemas.microsoft.com/office/drawing/2014/main" id="{508AA504-F056-AC38-F1B7-055B0F12FA3C}"/>
              </a:ext>
            </a:extLst>
          </p:cNvPr>
          <p:cNvSpPr>
            <a:spLocks noGrp="1"/>
          </p:cNvSpPr>
          <p:nvPr>
            <p:ph type="subTitle" idx="1"/>
          </p:nvPr>
        </p:nvSpPr>
        <p:spPr>
          <a:xfrm>
            <a:off x="0" y="0"/>
            <a:ext cx="12192000" cy="6858000"/>
          </a:xfrm>
        </p:spPr>
        <p:txBody>
          <a:bodyPr>
            <a:normAutofit/>
          </a:bodyPr>
          <a:lstStyle/>
          <a:p>
            <a:pPr algn="l"/>
            <a:r>
              <a:rPr lang="ja-JP" altLang="en-US" sz="1400" dirty="0">
                <a:latin typeface="BIZ UDP明朝 Medium" panose="02020500000000000000" pitchFamily="18" charset="-128"/>
                <a:ea typeface="BIZ UDP明朝 Medium" panose="02020500000000000000" pitchFamily="18" charset="-128"/>
              </a:rPr>
              <a:t>全体を通して、現場で見て・気づくということから改善を進められることを再認識いたしました。</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自分工場出身でロジに異動してきているので、重々承知していることではあるんですけど、</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今の普段の業務では机の上にいることが多いからこそ、ロジ基礎などの現場外出の機会を生かしてコストダウンの検討を進めていきたいと</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改めて感じました。</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本ロジ基礎講座についてですが</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講座全体を通して幅広い知識・経験・人脈を身に着けることが出来ました。</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右のグラフのようにロジ基礎を通して知識経験人脈が線形増加していると、もっと受けたらもっと上がるんじゃないかということですが</a:t>
            </a:r>
            <a:br>
              <a:rPr lang="en-US" altLang="ja-JP" sz="1400" dirty="0">
                <a:latin typeface="BIZ UDP明朝 Medium" panose="02020500000000000000" pitchFamily="18" charset="-128"/>
                <a:ea typeface="BIZ UDP明朝 Medium" panose="02020500000000000000" pitchFamily="18" charset="-128"/>
              </a:rPr>
            </a:br>
            <a:r>
              <a:rPr lang="ja-JP" altLang="en-US" sz="1400" dirty="0">
                <a:latin typeface="BIZ UDP明朝 Medium" panose="02020500000000000000" pitchFamily="18" charset="-128"/>
                <a:ea typeface="BIZ UDP明朝 Medium" panose="02020500000000000000" pitchFamily="18" charset="-128"/>
              </a:rPr>
              <a:t>今まで教えていただいたものを生かしてコストダウンを進めて会社の利益貢献をすると同時に自分の存在意義をアピールしていきたいと思います。</a:t>
            </a:r>
            <a:endParaRPr lang="en-US" altLang="ja-JP" sz="1400" dirty="0">
              <a:latin typeface="BIZ UDP明朝 Medium" panose="02020500000000000000" pitchFamily="18" charset="-128"/>
              <a:ea typeface="BIZ UDP明朝 Medium" panose="02020500000000000000" pitchFamily="18" charset="-128"/>
            </a:endParaRPr>
          </a:p>
          <a:p>
            <a:pPr algn="l"/>
            <a:r>
              <a:rPr lang="ja-JP" altLang="en-US" sz="1400" dirty="0">
                <a:latin typeface="BIZ UDP明朝 Medium" panose="02020500000000000000" pitchFamily="18" charset="-128"/>
                <a:ea typeface="BIZ UDP明朝 Medium" panose="02020500000000000000" pitchFamily="18" charset="-128"/>
              </a:rPr>
              <a:t>ロジ基礎を通して関わっていただいた方々</a:t>
            </a:r>
            <a:r>
              <a:rPr lang="en-US" altLang="ja-JP" sz="1400" dirty="0">
                <a:latin typeface="BIZ UDP明朝 Medium" panose="02020500000000000000" pitchFamily="18" charset="-128"/>
                <a:ea typeface="BIZ UDP明朝 Medium" panose="02020500000000000000" pitchFamily="18" charset="-128"/>
              </a:rPr>
              <a:t>(</a:t>
            </a:r>
            <a:r>
              <a:rPr lang="ja-JP" altLang="en-US" sz="1400" dirty="0">
                <a:latin typeface="BIZ UDP明朝 Medium" panose="02020500000000000000" pitchFamily="18" charset="-128"/>
                <a:ea typeface="BIZ UDP明朝 Medium" panose="02020500000000000000" pitchFamily="18" charset="-128"/>
              </a:rPr>
              <a:t>講師・事務局・上司が勿論ですが）ありがとうございました。これからもよろしくお願いします。以上で発表を終わります。</a:t>
            </a:r>
            <a:endParaRPr lang="en-US" altLang="ja-JP" sz="1400" dirty="0">
              <a:latin typeface="BIZ UDP明朝 Medium" panose="02020500000000000000" pitchFamily="18" charset="-128"/>
              <a:ea typeface="BIZ UDP明朝 Medium" panose="02020500000000000000" pitchFamily="18" charset="-128"/>
            </a:endParaRPr>
          </a:p>
        </p:txBody>
      </p:sp>
    </p:spTree>
    <p:extLst>
      <p:ext uri="{BB962C8B-B14F-4D97-AF65-F5344CB8AC3E}">
        <p14:creationId xmlns:p14="http://schemas.microsoft.com/office/powerpoint/2010/main" val="383062645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477</TotalTime>
  <Words>1456</Words>
  <Application>Microsoft Office PowerPoint</Application>
  <PresentationFormat>ワイド画面</PresentationFormat>
  <Paragraphs>54</Paragraphs>
  <Slides>12</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12</vt:i4>
      </vt:variant>
    </vt:vector>
  </HeadingPairs>
  <TitlesOfParts>
    <vt:vector size="17" baseType="lpstr">
      <vt:lpstr>BIZ UDP明朝 Medium</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将平 山下</dc:creator>
  <cp:lastModifiedBy>将平 山下</cp:lastModifiedBy>
  <cp:revision>3</cp:revision>
  <dcterms:created xsi:type="dcterms:W3CDTF">2025-12-14T07:10:12Z</dcterms:created>
  <dcterms:modified xsi:type="dcterms:W3CDTF">2025-12-14T15:07:53Z</dcterms:modified>
</cp:coreProperties>
</file>